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76" autoAdjust="0"/>
  </p:normalViewPr>
  <p:slideViewPr>
    <p:cSldViewPr>
      <p:cViewPr varScale="1">
        <p:scale>
          <a:sx n="91" d="100"/>
          <a:sy n="91" d="100"/>
        </p:scale>
        <p:origin x="-34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2814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C2DD6-2DD8-4E50-B712-99E95039E8C4}" type="datetimeFigureOut">
              <a:rPr lang="ru-RU" smtClean="0"/>
              <a:t>11.10.2025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D7BB40-0365-4EBB-9448-A7FBA852C3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91994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4"/>
            <a:ext cx="7315200" cy="25950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482C9-185D-41CE-821B-542E9A00A57D}" type="datetimeFigureOut">
              <a:rPr lang="ru-RU" smtClean="0"/>
              <a:t>11.10.2025</a:t>
            </a:fld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1C0302-BB76-4F3E-8441-43A62A67830C}" type="slidenum">
              <a:rPr lang="ru-RU" smtClean="0"/>
              <a:t>‹#›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482C9-185D-41CE-821B-542E9A00A57D}" type="datetimeFigureOut">
              <a:rPr lang="ru-RU" smtClean="0"/>
              <a:t>11.10.2025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0302-BB76-4F3E-8441-43A62A67830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7"/>
            <a:ext cx="7315200" cy="10984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482C9-185D-41CE-821B-542E9A00A57D}" type="datetimeFigureOut">
              <a:rPr lang="ru-RU" smtClean="0"/>
              <a:t>11.10.2025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0302-BB76-4F3E-8441-43A62A67830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482C9-185D-41CE-821B-542E9A00A57D}" type="datetimeFigureOut">
              <a:rPr lang="ru-RU" smtClean="0"/>
              <a:t>11.10.2025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0302-BB76-4F3E-8441-43A62A67830C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0"/>
            <a:ext cx="3566160" cy="35956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482C9-185D-41CE-821B-542E9A00A57D}" type="datetimeFigureOut">
              <a:rPr lang="ru-RU" smtClean="0"/>
              <a:t>11.10.2025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0302-BB76-4F3E-8441-43A62A67830C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482C9-185D-41CE-821B-542E9A00A57D}" type="datetimeFigureOut">
              <a:rPr lang="ru-RU" smtClean="0"/>
              <a:t>11.10.2025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0302-BB76-4F3E-8441-43A62A67830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482C9-185D-41CE-821B-542E9A00A57D}" type="datetimeFigureOut">
              <a:rPr lang="ru-RU" smtClean="0"/>
              <a:t>11.10.2025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0302-BB76-4F3E-8441-43A62A67830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2"/>
            <a:ext cx="2950936" cy="217301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5"/>
            <a:ext cx="2950936" cy="2245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482C9-185D-41CE-821B-542E9A00A57D}" type="datetimeFigureOut">
              <a:rPr lang="ru-RU" smtClean="0"/>
              <a:t>11.10.2025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0302-BB76-4F3E-8441-43A62A67830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482C9-185D-41CE-821B-542E9A00A57D}" type="datetimeFigureOut">
              <a:rPr lang="ru-RU" smtClean="0"/>
              <a:t>11.10.2025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0302-BB76-4F3E-8441-43A62A67830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482C9-185D-41CE-821B-542E9A00A57D}" type="datetimeFigureOut">
              <a:rPr lang="ru-RU" smtClean="0"/>
              <a:t>11.10.2025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0302-BB76-4F3E-8441-43A62A67830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0" y="1826709"/>
            <a:ext cx="1492499" cy="448445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482C9-185D-41CE-821B-542E9A00A57D}" type="datetimeFigureOut">
              <a:rPr lang="ru-RU" smtClean="0"/>
              <a:t>11.10.2025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C0302-BB76-4F3E-8441-43A62A67830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600" y="2780928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9F9482C9-185D-41CE-821B-542E9A00A57D}" type="datetimeFigureOut">
              <a:rPr lang="ru-RU" smtClean="0"/>
              <a:t>11.10.2025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5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41C0302-BB76-4F3E-8441-43A62A67830C}" type="slidenum">
              <a:rPr lang="ru-RU" smtClean="0"/>
              <a:t>‹#›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8" y="855956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tabLst>
          <a:tab pos="540000" algn="l"/>
        </a:tabLst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0579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tabLst>
          <a:tab pos="540000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tabLst>
          <a:tab pos="540000" algn="l"/>
        </a:tabLst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tabLst>
          <a:tab pos="540000" algn="l"/>
        </a:tabLst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tabLst>
          <a:tab pos="540000" algn="l"/>
        </a:tabLst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rs/exact84/projects/1" TargetMode="External"/><Relationship Id="rId2" Type="http://schemas.openxmlformats.org/officeDocument/2006/relationships/hyperlink" Target="https://github.com/exact84/RS-Clone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s-clone.netlify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260648"/>
            <a:ext cx="7315200" cy="2880320"/>
          </a:xfrm>
        </p:spPr>
        <p:txBody>
          <a:bodyPr>
            <a:normAutofit fontScale="90000"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lvl="0"/>
            <a:r>
              <a:rPr lang="en-US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Angular Final Project 2025 RS-Clone Movie DB</a:t>
            </a:r>
            <a: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/>
            </a:r>
            <a:b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</a:br>
            <a:endParaRPr lang="ru-RU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43608" y="2924944"/>
            <a:ext cx="7315200" cy="1144632"/>
          </a:xfrm>
        </p:spPr>
        <p:txBody>
          <a:bodyPr/>
          <a:lstStyle/>
          <a:p>
            <a:r>
              <a:rPr lang="ru-RU" sz="28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Команда: </a:t>
            </a:r>
            <a:r>
              <a:rPr lang="ru-RU" sz="28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Angular</a:t>
            </a:r>
            <a:r>
              <a:rPr lang="ru-RU" sz="28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</a:t>
            </a:r>
            <a:r>
              <a:rPr lang="ru-RU" sz="28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Masters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5" name="Рисунок 4" descr="C:\Users\User\AppData\Local\Microsoft\Windows\INetCache\Content.Word\angular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902602"/>
            <a:ext cx="1180515" cy="1136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Picture 3" descr="TMDB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6782" y="3904781"/>
            <a:ext cx="995640" cy="995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Netlif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3892309"/>
            <a:ext cx="1008112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Рисунок 7"/>
          <p:cNvPicPr/>
          <p:nvPr/>
        </p:nvPicPr>
        <p:blipFill>
          <a:blip r:embed="rId5"/>
          <a:stretch>
            <a:fillRect/>
          </a:stretch>
        </p:blipFill>
        <p:spPr>
          <a:xfrm>
            <a:off x="6876256" y="3966474"/>
            <a:ext cx="1851511" cy="859780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3950736"/>
            <a:ext cx="949685" cy="949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200297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260648"/>
            <a:ext cx="7315200" cy="2088232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lvl="0"/>
            <a: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Команда</a:t>
            </a:r>
            <a:b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</a:br>
            <a:endParaRPr lang="ru-RU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71600" y="2140352"/>
            <a:ext cx="7315200" cy="1144632"/>
          </a:xfrm>
        </p:spPr>
        <p:txBody>
          <a:bodyPr>
            <a:normAutofit fontScale="25000" lnSpcReduction="20000"/>
          </a:bodyPr>
          <a:lstStyle/>
          <a:p>
            <a:pPr marL="357188" lvl="0" indent="-357188">
              <a:buFont typeface="Arial" pitchFamily="34" charset="0"/>
              <a:buChar char="•"/>
              <a:tabLst>
                <a:tab pos="360000" algn="l"/>
              </a:tabLst>
            </a:pPr>
            <a:r>
              <a:rPr lang="en-US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Evgeniia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</a:t>
            </a:r>
            <a:r>
              <a:rPr lang="en-US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Korolova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— 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Страницы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: Home, Movies, People. </a:t>
            </a: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Копоненты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:  Header, Menu</a:t>
            </a:r>
            <a:r>
              <a:rPr lang="ru-RU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.</a:t>
            </a:r>
          </a:p>
          <a:p>
            <a:pPr lvl="0"/>
            <a:endParaRPr lang="ru-RU" sz="9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357188" lvl="0" indent="-357188">
              <a:buFont typeface="Arial" pitchFamily="34" charset="0"/>
              <a:buChar char="•"/>
            </a:pPr>
            <a:r>
              <a:rPr lang="en-US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Nikolay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</a:t>
            </a:r>
            <a:r>
              <a:rPr lang="en-US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Makarevich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— Backend. 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Страницы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: </a:t>
            </a:r>
            <a:r>
              <a:rPr lang="en-US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Auth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, Profile, 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а так же 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Routing, Guards</a:t>
            </a:r>
            <a:r>
              <a:rPr lang="en-US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.</a:t>
            </a:r>
            <a:endParaRPr lang="ru-RU" sz="96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lvl="0"/>
            <a:endParaRPr lang="ru-RU" sz="9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357188" lvl="0" indent="-357188" defTabSz="554400">
              <a:buFont typeface="Arial" pitchFamily="34" charset="0"/>
              <a:buChar char="•"/>
            </a:pP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Alexey </a:t>
            </a:r>
            <a:r>
              <a:rPr lang="en-US" sz="9600" b="1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Trukhlyayev</a:t>
            </a:r>
            <a:r>
              <a:rPr lang="en-US" sz="9600" b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</a:t>
            </a:r>
            <a:r>
              <a:rPr lang="en-US" sz="9600" b="1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— 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Team Lead, CI/CD, Error monitoring, Deploy. 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Страницы: 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Filters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, 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Search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, 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Footer</a:t>
            </a:r>
            <a:endParaRPr lang="ru-RU" sz="9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110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260648"/>
            <a:ext cx="7315200" cy="2088232"/>
          </a:xfrm>
        </p:spPr>
        <p:txBody>
          <a:bodyPr>
            <a:normAutofit fontScale="90000"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lvl="0"/>
            <a:r>
              <a:rPr lang="ru-RU" b="1" dirty="0"/>
              <a:t>Цель и описание проекта </a:t>
            </a:r>
            <a: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/>
            </a:r>
            <a:b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</a:br>
            <a:endParaRPr lang="ru-RU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71600" y="2140352"/>
            <a:ext cx="7315200" cy="1144632"/>
          </a:xfrm>
        </p:spPr>
        <p:txBody>
          <a:bodyPr>
            <a:normAutofit fontScale="25000" lnSpcReduction="20000"/>
          </a:bodyPr>
          <a:lstStyle/>
          <a:p>
            <a:pPr marL="536575" lvl="0" indent="-536575" defTabSz="554400">
              <a:buFont typeface="Arial" pitchFamily="34" charset="0"/>
              <a:buChar char="•"/>
            </a:pP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Цель: создать SPA для управления персональной базой фильмов</a:t>
            </a:r>
            <a:r>
              <a:rPr lang="ru-RU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.</a:t>
            </a:r>
          </a:p>
          <a:p>
            <a:pPr lvl="0"/>
            <a:endParaRPr lang="ru-RU" sz="9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lvl="0" indent="-536575">
              <a:buFont typeface="Arial" pitchFamily="34" charset="0"/>
              <a:buChar char="•"/>
            </a:pP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Ключевые возможности: регистрация пользователей, просмотр списков по </a:t>
            </a:r>
            <a:r>
              <a:rPr lang="ru-RU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категориям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, поиск фильмов через </a:t>
            </a: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TMDb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API, просмотр карточки фильма, формирование и просмотр коллекций («избранное», «смотреть позже»).</a:t>
            </a:r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4133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-99392"/>
            <a:ext cx="7315200" cy="2088232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lvl="0"/>
            <a:r>
              <a:rPr lang="ru-RU" b="1" dirty="0"/>
              <a:t>Архитектура проекта</a:t>
            </a:r>
            <a: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/>
            </a:r>
            <a:b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</a:br>
            <a:endParaRPr lang="ru-RU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01417" y="1484784"/>
            <a:ext cx="4298575" cy="2376264"/>
          </a:xfrm>
        </p:spPr>
        <p:txBody>
          <a:bodyPr>
            <a:normAutofit fontScale="25000" lnSpcReduction="20000"/>
          </a:bodyPr>
          <a:lstStyle/>
          <a:p>
            <a:pPr algn="r"/>
            <a:r>
              <a:rPr lang="ru-RU" sz="9600" b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Диаграмма</a:t>
            </a:r>
            <a:r>
              <a:rPr lang="ru-RU" sz="9600" b="1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:</a:t>
            </a:r>
            <a:r>
              <a:rPr lang="en-US" sz="9600" b="1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 </a:t>
            </a:r>
            <a:endParaRPr lang="ru-RU" sz="96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lvl="0"/>
            <a:endParaRPr lang="en-US" sz="9600" b="1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lvl="0"/>
            <a:endParaRPr lang="en-US" sz="9600" b="1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lvl="0"/>
            <a:endParaRPr lang="ru-RU" sz="9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179388" lvl="0" indent="-179388">
              <a:buFont typeface="Arial" pitchFamily="34" charset="0"/>
              <a:buChar char="•"/>
            </a:pPr>
            <a:r>
              <a:rPr lang="ru-RU" sz="9600" b="1" spc="-15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+mj-lt"/>
              </a:rPr>
              <a:t>Frontend</a:t>
            </a:r>
            <a:r>
              <a:rPr lang="ru-RU" sz="9600" b="1" spc="-150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+mj-lt"/>
              </a:rPr>
              <a:t>: </a:t>
            </a:r>
            <a:r>
              <a:rPr lang="ru-RU" sz="9600" b="1" spc="-150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+mj-lt"/>
              </a:rPr>
              <a:t>Angular</a:t>
            </a:r>
            <a:r>
              <a:rPr lang="ru-RU" sz="9600" b="1" spc="-150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+mj-lt"/>
              </a:rPr>
              <a:t> SPA</a:t>
            </a:r>
          </a:p>
          <a:p>
            <a:pPr marL="179388" lvl="0" indent="-179388">
              <a:buFont typeface="Arial" pitchFamily="34" charset="0"/>
              <a:buChar char="•"/>
            </a:pPr>
            <a:r>
              <a:rPr lang="ru-RU" sz="9600" b="1" spc="-15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+mj-lt"/>
              </a:rPr>
              <a:t>Backend</a:t>
            </a:r>
            <a:r>
              <a:rPr lang="ru-RU" sz="9600" b="1" spc="-150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+mj-lt"/>
              </a:rPr>
              <a:t>: </a:t>
            </a:r>
            <a:r>
              <a:rPr lang="ru-RU" sz="9600" b="1" spc="-150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+mj-lt"/>
              </a:rPr>
              <a:t>NestJS</a:t>
            </a:r>
            <a:r>
              <a:rPr lang="ru-RU" sz="9600" b="1" spc="-150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+mj-lt"/>
              </a:rPr>
              <a:t> API</a:t>
            </a:r>
          </a:p>
          <a:p>
            <a:pPr marL="179388" lvl="0" indent="-179388">
              <a:buFont typeface="Arial" pitchFamily="34" charset="0"/>
              <a:buChar char="•"/>
            </a:pPr>
            <a:r>
              <a:rPr lang="ru-RU" sz="9600" b="1" spc="-15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+mj-lt"/>
              </a:rPr>
              <a:t>TMDb </a:t>
            </a:r>
            <a:r>
              <a:rPr lang="ru-RU" sz="9600" b="1" spc="-150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+mj-lt"/>
              </a:rPr>
              <a:t>API</a:t>
            </a:r>
          </a:p>
          <a:p>
            <a:pPr marL="179388" lvl="0" indent="-179388">
              <a:buFont typeface="Arial" pitchFamily="34" charset="0"/>
              <a:buChar char="•"/>
            </a:pPr>
            <a:r>
              <a:rPr lang="en-US" sz="9600" b="1" spc="-15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+mj-lt"/>
              </a:rPr>
              <a:t>Database</a:t>
            </a:r>
            <a:r>
              <a:rPr lang="en-US" sz="9600" b="1" spc="-15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+mj-lt"/>
              </a:rPr>
              <a:t>: </a:t>
            </a:r>
            <a:r>
              <a:rPr lang="en-US" sz="9600" b="1" spc="-15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+mj-lt"/>
              </a:rPr>
              <a:t>P</a:t>
            </a:r>
            <a:r>
              <a:rPr lang="en-US" sz="9600" b="1" spc="-15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+mj-lt"/>
              </a:rPr>
              <a:t>ostgresql (Prisma)</a:t>
            </a:r>
            <a:endParaRPr lang="ru-RU" sz="9600" b="1" spc="-150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+mj-lt"/>
            </a:endParaRPr>
          </a:p>
          <a:p>
            <a:endParaRPr lang="ru-RU" sz="9600" dirty="0">
              <a:latin typeface="Comic Sans MS" pitchFamily="66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1196752"/>
            <a:ext cx="4501678" cy="5534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8684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260648"/>
            <a:ext cx="7315200" cy="2088232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lvl="0"/>
            <a:r>
              <a:rPr lang="ru-RU" b="1" dirty="0"/>
              <a:t>Технологии и стек</a:t>
            </a:r>
            <a: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/>
            </a:r>
            <a:b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</a:br>
            <a:endParaRPr lang="ru-RU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71600" y="1924328"/>
            <a:ext cx="7315200" cy="1144632"/>
          </a:xfrm>
        </p:spPr>
        <p:txBody>
          <a:bodyPr>
            <a:normAutofit fontScale="25000" lnSpcReduction="20000"/>
          </a:bodyPr>
          <a:lstStyle/>
          <a:p>
            <a:pPr marL="536575" indent="-536575">
              <a:buFont typeface="Arial" pitchFamily="34" charset="0"/>
              <a:buChar char="•"/>
            </a:pPr>
            <a:r>
              <a:rPr lang="en-US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Angular 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20 + </a:t>
            </a:r>
            <a:r>
              <a:rPr lang="en-US" sz="9600" b="1" dirty="0" err="1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TypeScript</a:t>
            </a:r>
            <a:endParaRPr lang="ru-RU" sz="96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indent="-536575"/>
            <a:endParaRPr lang="ru-RU" sz="7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indent="-536575">
              <a:buFont typeface="Arial" pitchFamily="34" charset="0"/>
              <a:buChar char="•"/>
            </a:pPr>
            <a:r>
              <a:rPr lang="en-US" sz="9600" b="1" dirty="0" err="1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RxJS</a:t>
            </a:r>
            <a:r>
              <a:rPr lang="en-US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+ </a:t>
            </a:r>
            <a:r>
              <a:rPr lang="en-US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Signals</a:t>
            </a:r>
            <a:endParaRPr lang="ru-RU" sz="96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indent="-536575"/>
            <a:endParaRPr lang="ru-RU" sz="7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indent="-536575">
              <a:buFont typeface="Arial" pitchFamily="34" charset="0"/>
              <a:buChar char="•"/>
            </a:pPr>
            <a:r>
              <a:rPr lang="en-US" sz="9600" b="1" dirty="0" err="1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NgRx</a:t>
            </a:r>
            <a:r>
              <a:rPr lang="en-US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Signals (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глобальное состояние</a:t>
            </a:r>
            <a:r>
              <a:rPr lang="en-US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)</a:t>
            </a:r>
            <a:endParaRPr lang="ru-RU" sz="96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indent="-536575"/>
            <a:endParaRPr lang="ru-RU" sz="7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indent="-536575">
              <a:buFont typeface="Arial" pitchFamily="34" charset="0"/>
              <a:buChar char="•"/>
            </a:pPr>
            <a:r>
              <a:rPr lang="en-US" sz="9600" b="1" dirty="0" err="1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NestJS</a:t>
            </a:r>
            <a:r>
              <a:rPr lang="en-US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(</a:t>
            </a: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бэкенд</a:t>
            </a:r>
            <a:r>
              <a:rPr lang="en-US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)</a:t>
            </a:r>
            <a:endParaRPr lang="ru-RU" sz="96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indent="-536575"/>
            <a:endParaRPr lang="ru-RU" sz="7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indent="-536575">
              <a:buFont typeface="Arial" pitchFamily="34" charset="0"/>
              <a:buChar char="•"/>
            </a:pPr>
            <a:r>
              <a:rPr lang="en-US" sz="9600" b="1" dirty="0" err="1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Netlify</a:t>
            </a:r>
            <a:r>
              <a:rPr lang="en-US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+ </a:t>
            </a:r>
            <a:r>
              <a:rPr lang="en-US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GitHub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</a:t>
            </a:r>
            <a:r>
              <a:rPr lang="en-US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Actions</a:t>
            </a:r>
            <a:endParaRPr lang="ru-RU" sz="96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indent="-536575"/>
            <a:endParaRPr lang="ru-RU" sz="7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indent="-536575">
              <a:buFont typeface="Arial" pitchFamily="34" charset="0"/>
              <a:buChar char="•"/>
            </a:pPr>
            <a:r>
              <a:rPr lang="en-US" sz="9600" b="1" dirty="0" err="1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ESLint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, Prettier, </a:t>
            </a:r>
            <a:r>
              <a:rPr lang="en-US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Husky</a:t>
            </a:r>
            <a:endParaRPr lang="ru-RU" sz="96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indent="-536575"/>
            <a:endParaRPr lang="ru-RU" sz="7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indent="-536575">
              <a:buFont typeface="Arial" pitchFamily="34" charset="0"/>
              <a:buChar char="•"/>
            </a:pPr>
            <a:r>
              <a:rPr lang="en-US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Semantic-release</a:t>
            </a:r>
            <a:endParaRPr lang="ru-RU" sz="9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3908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260648"/>
            <a:ext cx="7315200" cy="2088232"/>
          </a:xfrm>
        </p:spPr>
        <p:txBody>
          <a:bodyPr>
            <a:normAutofit fontScale="90000"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lvl="0"/>
            <a:r>
              <a:rPr lang="ru-RU" b="1" dirty="0"/>
              <a:t>Управление состоянием</a:t>
            </a:r>
            <a: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/>
            </a:r>
            <a:b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</a:br>
            <a:endParaRPr lang="ru-RU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71600" y="1924328"/>
            <a:ext cx="7315200" cy="1144632"/>
          </a:xfrm>
        </p:spPr>
        <p:txBody>
          <a:bodyPr>
            <a:normAutofit fontScale="25000" lnSpcReduction="20000"/>
          </a:bodyPr>
          <a:lstStyle/>
          <a:p>
            <a:pPr marL="536575" lvl="0" indent="-536575">
              <a:buFont typeface="Arial" pitchFamily="34" charset="0"/>
              <a:buChar char="•"/>
            </a:pP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RxJS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→ API и асинхронные потоки</a:t>
            </a:r>
            <a:r>
              <a:rPr lang="ru-RU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.</a:t>
            </a:r>
          </a:p>
          <a:p>
            <a:pPr marL="536575" lvl="0" indent="-536575"/>
            <a:endParaRPr lang="ru-RU" sz="9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lvl="0" indent="-536575">
              <a:buFont typeface="Arial" pitchFamily="34" charset="0"/>
              <a:buChar char="•"/>
            </a:pP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toSignal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() → преобразование потоков в удобное состояние (мост между </a:t>
            </a: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RxJS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и сигналами</a:t>
            </a:r>
            <a:r>
              <a:rPr lang="ru-RU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).</a:t>
            </a:r>
          </a:p>
          <a:p>
            <a:pPr marL="536575" lvl="0" indent="-536575"/>
            <a:endParaRPr lang="ru-RU" sz="9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lvl="0" indent="-536575">
              <a:buFont typeface="Arial" pitchFamily="34" charset="0"/>
              <a:buChar char="•"/>
            </a:pP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signal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() → локальное управление состоянием UI</a:t>
            </a:r>
            <a:r>
              <a:rPr lang="ru-RU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.</a:t>
            </a:r>
          </a:p>
          <a:p>
            <a:pPr marL="536575" lvl="0" indent="-536575"/>
            <a:endParaRPr lang="ru-RU" sz="9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lvl="0" indent="-536575">
              <a:buFont typeface="Arial" pitchFamily="34" charset="0"/>
              <a:buChar char="•"/>
            </a:pP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NgRx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</a:t>
            </a: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Signals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→ глобальное состояние (профиль, избранное)</a:t>
            </a:r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1883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260648"/>
            <a:ext cx="7315200" cy="2088232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lvl="0"/>
            <a:r>
              <a:rPr lang="ru-RU" b="1" dirty="0" smtClean="0"/>
              <a:t>CI/CD</a:t>
            </a:r>
            <a: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/>
            </a:r>
            <a:b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</a:br>
            <a:endParaRPr lang="ru-RU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71600" y="2500392"/>
            <a:ext cx="7315200" cy="1144632"/>
          </a:xfrm>
        </p:spPr>
        <p:txBody>
          <a:bodyPr>
            <a:normAutofit fontScale="25000" lnSpcReduction="20000"/>
          </a:bodyPr>
          <a:lstStyle/>
          <a:p>
            <a:pPr marL="536575" lvl="0" indent="-536575">
              <a:buFont typeface="Arial" pitchFamily="34" charset="0"/>
              <a:buChar char="•"/>
            </a:pP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GitHub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</a:t>
            </a: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Actions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: </a:t>
            </a: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lint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→ тесты → </a:t>
            </a:r>
            <a:r>
              <a:rPr lang="ru-RU" sz="9600" b="1" dirty="0" err="1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билд</a:t>
            </a:r>
            <a:endParaRPr lang="ru-RU" sz="96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lvl="0" indent="-536575"/>
            <a:endParaRPr lang="ru-RU" sz="9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lvl="0" indent="-536575">
              <a:buFont typeface="Arial" pitchFamily="34" charset="0"/>
              <a:buChar char="•"/>
            </a:pP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Netlify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: </a:t>
            </a: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deploy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+ </a:t>
            </a: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deploy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</a:t>
            </a:r>
            <a:r>
              <a:rPr lang="ru-RU" sz="9600" b="1" dirty="0" err="1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preview</a:t>
            </a:r>
            <a:endParaRPr lang="ru-RU" sz="96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lvl="0" indent="-536575"/>
            <a:endParaRPr lang="ru-RU" sz="9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lvl="0" indent="-536575">
              <a:buFont typeface="Arial" pitchFamily="34" charset="0"/>
              <a:buChar char="•"/>
            </a:pP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Semantic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</a:t>
            </a: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release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: автоматический </a:t>
            </a: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changelog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, версии, теги</a:t>
            </a:r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2760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260648"/>
            <a:ext cx="7315200" cy="2088232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lvl="0"/>
            <a:r>
              <a:rPr lang="ru-RU" b="1" dirty="0"/>
              <a:t>Демонстрация </a:t>
            </a:r>
            <a: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/>
            </a:r>
            <a:b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</a:br>
            <a:endParaRPr lang="ru-RU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71600" y="1924328"/>
            <a:ext cx="7315200" cy="1144632"/>
          </a:xfrm>
        </p:spPr>
        <p:txBody>
          <a:bodyPr>
            <a:normAutofit fontScale="25000" lnSpcReduction="20000"/>
          </a:bodyPr>
          <a:lstStyle/>
          <a:p>
            <a:pPr marL="1143000" lvl="0" indent="-1143000">
              <a:buFont typeface="Arial" pitchFamily="34" charset="0"/>
              <a:buChar char="•"/>
            </a:pP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Регистрация / логин.</a:t>
            </a:r>
          </a:p>
          <a:p>
            <a:pPr marL="1143000" lvl="0" indent="-1143000">
              <a:buFont typeface="Arial" pitchFamily="34" charset="0"/>
              <a:buChar char="•"/>
            </a:pP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Разделы главной страницы.</a:t>
            </a:r>
          </a:p>
          <a:p>
            <a:pPr marL="1143000" lvl="0" indent="-1143000">
              <a:buFont typeface="Arial" pitchFamily="34" charset="0"/>
              <a:buChar char="•"/>
            </a:pP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Поиск фильмов.</a:t>
            </a:r>
          </a:p>
          <a:p>
            <a:pPr marL="1143000" lvl="0" indent="-1143000">
              <a:buFont typeface="Arial" pitchFamily="34" charset="0"/>
              <a:buChar char="•"/>
            </a:pP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Movies 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по категориям.</a:t>
            </a:r>
          </a:p>
          <a:p>
            <a:pPr marL="1143000" lvl="0" indent="-1143000">
              <a:buFont typeface="Arial" pitchFamily="34" charset="0"/>
              <a:buChar char="•"/>
            </a:pP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Filter.</a:t>
            </a:r>
            <a:endParaRPr lang="ru-RU" sz="9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1143000" lvl="0" indent="-1143000">
              <a:buFont typeface="Arial" pitchFamily="34" charset="0"/>
              <a:buChar char="•"/>
            </a:pP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Страница фильма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.</a:t>
            </a:r>
            <a:endParaRPr lang="ru-RU" sz="9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1143000" lvl="0" indent="-1143000">
              <a:buFont typeface="Arial" pitchFamily="34" charset="0"/>
              <a:buChar char="•"/>
            </a:pP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Коллекции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.</a:t>
            </a:r>
            <a:endParaRPr lang="ru-RU" sz="9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1143000" lvl="0" indent="-1143000">
              <a:buFont typeface="Arial" pitchFamily="34" charset="0"/>
              <a:buChar char="•"/>
            </a:pP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Страница профиля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.</a:t>
            </a:r>
            <a:endParaRPr lang="ru-RU" sz="9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3632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260648"/>
            <a:ext cx="7315200" cy="2088232"/>
          </a:xfrm>
        </p:spPr>
        <p:txBody>
          <a:bodyPr>
            <a:normAutofit fontScale="90000"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lvl="0"/>
            <a:r>
              <a:rPr lang="ru-RU" b="1" dirty="0"/>
              <a:t>Тестирование и качество кода</a:t>
            </a:r>
            <a:r>
              <a:rPr lang="ru-RU" b="1" dirty="0" smtClean="0"/>
              <a:t> </a:t>
            </a:r>
            <a: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/>
            </a:r>
            <a:b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</a:br>
            <a:endParaRPr lang="ru-RU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71600" y="1924328"/>
            <a:ext cx="7315200" cy="1144632"/>
          </a:xfrm>
        </p:spPr>
        <p:txBody>
          <a:bodyPr>
            <a:normAutofit fontScale="25000" lnSpcReduction="20000"/>
          </a:bodyPr>
          <a:lstStyle/>
          <a:p>
            <a:pPr marL="536575" lvl="0" indent="-536575">
              <a:buFont typeface="Arial" pitchFamily="34" charset="0"/>
              <a:buChar char="•"/>
            </a:pP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Unit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</a:t>
            </a: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tests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(</a:t>
            </a: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Jasmine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+ </a:t>
            </a: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Karma</a:t>
            </a:r>
            <a:r>
              <a:rPr lang="ru-RU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)</a:t>
            </a:r>
          </a:p>
          <a:p>
            <a:pPr lvl="0"/>
            <a:endParaRPr lang="ru-RU" sz="9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lvl="0" indent="-536575">
              <a:buFont typeface="Arial" pitchFamily="34" charset="0"/>
              <a:buChar char="•"/>
            </a:pPr>
            <a:r>
              <a:rPr lang="en-US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ESLint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+ Prettier + Husky (pre-commit 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и 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pre-push hooks</a:t>
            </a:r>
            <a:r>
              <a:rPr lang="en-US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)</a:t>
            </a:r>
            <a:endParaRPr lang="ru-RU" sz="96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lvl="0"/>
            <a:endParaRPr lang="ru-RU" sz="9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lvl="0" indent="-536575">
              <a:buFont typeface="Arial" pitchFamily="34" charset="0"/>
              <a:buChar char="•"/>
            </a:pP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Обязательный код-</a:t>
            </a: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ревью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каждого 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PR</a:t>
            </a:r>
            <a:endParaRPr lang="ru-RU" sz="9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2050" name="Picture 2" descr="cover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274" y="4365104"/>
            <a:ext cx="7665182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5419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260648"/>
            <a:ext cx="7315200" cy="2088232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lvl="0"/>
            <a:r>
              <a:rPr lang="ru-RU" b="1" dirty="0" err="1"/>
              <a:t>Netlify</a:t>
            </a:r>
            <a:r>
              <a:rPr lang="ru-RU" b="1" dirty="0"/>
              <a:t> </a:t>
            </a:r>
            <a:r>
              <a:rPr lang="ru-RU" b="1" dirty="0" err="1"/>
              <a:t>деплой</a:t>
            </a:r>
            <a: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/>
            </a:r>
            <a:b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</a:br>
            <a:endParaRPr lang="ru-RU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71600" y="2356376"/>
            <a:ext cx="7315200" cy="1144632"/>
          </a:xfrm>
        </p:spPr>
        <p:txBody>
          <a:bodyPr>
            <a:normAutofit fontScale="25000" lnSpcReduction="20000"/>
          </a:bodyPr>
          <a:lstStyle/>
          <a:p>
            <a:pPr marL="536575" lvl="0" indent="-536575">
              <a:buFont typeface="Arial" pitchFamily="34" charset="0"/>
              <a:buChar char="•"/>
            </a:pP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Deploy previews 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на 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PR 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и </a:t>
            </a: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Автодеплой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при </a:t>
            </a: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мерже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</a:t>
            </a:r>
            <a:r>
              <a:rPr lang="en-US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PR</a:t>
            </a:r>
            <a:endParaRPr lang="ru-RU" sz="96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lvl="0" indent="-536575"/>
            <a:endParaRPr lang="ru-RU" sz="9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lvl="0" indent="-536575">
              <a:buFont typeface="Arial" pitchFamily="34" charset="0"/>
              <a:buChar char="•"/>
            </a:pP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Netlify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-функции для секретов для API_KEY</a:t>
            </a:r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420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260648"/>
            <a:ext cx="7315200" cy="2088232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lvl="0"/>
            <a:r>
              <a:rPr lang="ru-RU" b="1" dirty="0" err="1"/>
              <a:t>Error</a:t>
            </a:r>
            <a:r>
              <a:rPr lang="ru-RU" b="1" dirty="0"/>
              <a:t> </a:t>
            </a:r>
            <a:r>
              <a:rPr lang="ru-RU" b="1" dirty="0" err="1"/>
              <a:t>Monitoring</a:t>
            </a:r>
            <a: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/>
            </a:r>
            <a:b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</a:br>
            <a:endParaRPr lang="ru-RU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15616" y="1988839"/>
            <a:ext cx="7315200" cy="807571"/>
          </a:xfrm>
        </p:spPr>
        <p:txBody>
          <a:bodyPr>
            <a:normAutofit fontScale="25000" lnSpcReduction="20000"/>
          </a:bodyPr>
          <a:lstStyle/>
          <a:p>
            <a:pPr lvl="0"/>
            <a:r>
              <a:rPr lang="ru-RU" sz="11200" b="1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Sentry</a:t>
            </a:r>
            <a:r>
              <a:rPr lang="ru-RU" sz="11200" b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</a:t>
            </a:r>
            <a:r>
              <a:rPr lang="ru-RU" sz="11200" b="1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интеграция:</a:t>
            </a:r>
            <a:endParaRPr lang="ru-RU" sz="112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lvl="0"/>
            <a:endParaRPr lang="ru-RU" sz="11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796411"/>
            <a:ext cx="5400600" cy="3909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045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260648"/>
            <a:ext cx="7315200" cy="2088232"/>
          </a:xfrm>
        </p:spPr>
        <p:txBody>
          <a:bodyPr>
            <a:normAutofit fontScale="90000"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lvl="0"/>
            <a:r>
              <a:rPr lang="ru-RU" b="1" dirty="0"/>
              <a:t>Оптимизация и производительность</a:t>
            </a:r>
            <a: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/>
            </a:r>
            <a:b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</a:br>
            <a:endParaRPr lang="ru-RU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01216" y="3004448"/>
            <a:ext cx="7315200" cy="1144632"/>
          </a:xfrm>
        </p:spPr>
        <p:txBody>
          <a:bodyPr>
            <a:normAutofit fontScale="25000" lnSpcReduction="20000"/>
          </a:bodyPr>
          <a:lstStyle/>
          <a:p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Lighthouse 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результаты</a:t>
            </a:r>
          </a:p>
          <a:p>
            <a:pPr lvl="0"/>
            <a:endParaRPr lang="ru-RU" sz="112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lvl="0"/>
            <a:endParaRPr lang="ru-RU" sz="112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lvl="0"/>
            <a:endParaRPr lang="ru-RU" sz="11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lvl="0"/>
            <a:endParaRPr lang="ru-RU" sz="112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lvl="0"/>
            <a:endParaRPr lang="ru-RU" sz="11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lvl="0"/>
            <a:endParaRPr lang="ru-RU" sz="112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r>
              <a:rPr lang="ru-RU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таблица 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Before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/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After</a:t>
            </a:r>
            <a:endParaRPr lang="ru-RU" sz="9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4" name="Рисунок 3" descr="C:\Users\User\AppData\Local\Microsoft\Windows\INetCache\Content.Word\LighthouseFinal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879" y="1844824"/>
            <a:ext cx="3700145" cy="812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318" y="3573016"/>
            <a:ext cx="3295849" cy="223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3036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260648"/>
            <a:ext cx="7315200" cy="2088232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lvl="0"/>
            <a:r>
              <a:rPr lang="ru-RU" b="1" dirty="0"/>
              <a:t>Проблемы и решения</a:t>
            </a:r>
            <a: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/>
            </a:r>
            <a:b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</a:br>
            <a:endParaRPr lang="ru-RU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71600" y="2356376"/>
            <a:ext cx="7315200" cy="1144632"/>
          </a:xfrm>
        </p:spPr>
        <p:txBody>
          <a:bodyPr>
            <a:normAutofit fontScale="25000" lnSpcReduction="20000"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CI/CD </a:t>
            </a: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пайплайны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→ решали экспериментами и помощью </a:t>
            </a:r>
            <a:r>
              <a:rPr lang="ru-RU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ментора</a:t>
            </a:r>
          </a:p>
          <a:p>
            <a:endParaRPr lang="ru-RU" sz="9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ru-RU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Различия </a:t>
            </a: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Linux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/</a:t>
            </a: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Windows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→ контейнеризация + хостинг </a:t>
            </a:r>
            <a:r>
              <a:rPr lang="ru-RU" sz="9600" b="1" dirty="0" err="1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бэкенда</a:t>
            </a:r>
            <a:endParaRPr lang="ru-RU" sz="96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endParaRPr lang="ru-RU" sz="9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ru-RU" sz="9600" b="1" dirty="0" err="1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Signals</a:t>
            </a:r>
            <a:r>
              <a:rPr lang="ru-RU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(новая технология) → изучение документации + практика</a:t>
            </a:r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9722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260648"/>
            <a:ext cx="7315200" cy="2088232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lvl="0"/>
            <a:r>
              <a:rPr lang="ru-RU" b="1" smtClean="0"/>
              <a:t>Планы по развитию</a:t>
            </a:r>
            <a: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/>
            </a:r>
            <a:b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</a:br>
            <a:endParaRPr lang="ru-RU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71600" y="2356376"/>
            <a:ext cx="7315200" cy="3952944"/>
          </a:xfrm>
        </p:spPr>
        <p:txBody>
          <a:bodyPr>
            <a:normAutofit fontScale="25000" lnSpcReduction="20000"/>
          </a:bodyPr>
          <a:lstStyle/>
          <a:p>
            <a:pPr marL="357188" lvl="0" indent="-357188">
              <a:buFont typeface="Arial" pitchFamily="34" charset="0"/>
              <a:buChar char="•"/>
            </a:pPr>
            <a:r>
              <a:rPr lang="ru-RU" sz="112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Улучшить покрытие </a:t>
            </a:r>
            <a:r>
              <a:rPr lang="ru-RU" sz="112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тестами</a:t>
            </a:r>
          </a:p>
          <a:p>
            <a:pPr marL="357188" lvl="0" indent="-357188"/>
            <a:endParaRPr lang="ru-RU" sz="11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357188" lvl="0" indent="-357188">
              <a:buFont typeface="Arial" pitchFamily="34" charset="0"/>
              <a:buChar char="•"/>
            </a:pPr>
            <a:r>
              <a:rPr lang="ru-RU" sz="11200" b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Добавить </a:t>
            </a:r>
            <a:r>
              <a:rPr lang="ru-RU" sz="11200" b="1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многоязычность</a:t>
            </a:r>
          </a:p>
          <a:p>
            <a:pPr marL="357188" lvl="0" indent="-357188">
              <a:buFont typeface="Arial" pitchFamily="34" charset="0"/>
              <a:buChar char="•"/>
            </a:pPr>
            <a:endParaRPr lang="ru-RU" sz="11200" b="1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357188" lvl="0" indent="-357188">
              <a:lnSpc>
                <a:spcPct val="140000"/>
              </a:lnSpc>
              <a:buFont typeface="Arial" pitchFamily="34" charset="0"/>
              <a:buChar char="•"/>
            </a:pPr>
            <a:r>
              <a:rPr lang="ru-RU" sz="11200" b="1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Включить больше возможностей для выборки фильмов пользователями</a:t>
            </a:r>
            <a:endParaRPr lang="ru-RU" sz="11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519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260648"/>
            <a:ext cx="7315200" cy="2088232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ru-RU" b="1" dirty="0"/>
              <a:t>Выводы и </a:t>
            </a:r>
            <a:r>
              <a:rPr lang="ru-RU" b="1" dirty="0" smtClean="0"/>
              <a:t>навыки</a:t>
            </a:r>
            <a:r>
              <a:rPr lang="ru-RU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/>
            </a:r>
            <a:br>
              <a:rPr lang="ru-RU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</a:br>
            <a:endParaRPr lang="ru-RU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55576" y="2356376"/>
            <a:ext cx="7848872" cy="2800816"/>
          </a:xfrm>
        </p:spPr>
        <p:txBody>
          <a:bodyPr>
            <a:normAutofit fontScale="25000" lnSpcReduction="20000"/>
          </a:bodyPr>
          <a:lstStyle/>
          <a:p>
            <a:pPr marL="536575" lvl="0" indent="-536575">
              <a:buFont typeface="Arial" pitchFamily="34" charset="0"/>
              <a:buChar char="•"/>
            </a:pP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Работа с </a:t>
            </a:r>
            <a:r>
              <a:rPr lang="ru-RU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Angular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20 и </a:t>
            </a:r>
            <a:r>
              <a:rPr lang="ru-RU" sz="9600" b="1" dirty="0" err="1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Signals</a:t>
            </a:r>
            <a:endParaRPr lang="ru-RU" sz="96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lvl="0" indent="-536575"/>
            <a:endParaRPr lang="ru-RU" sz="9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lvl="0" indent="-536575">
              <a:buFont typeface="Arial" pitchFamily="34" charset="0"/>
              <a:buChar char="•"/>
            </a:pP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Настройка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CI/CD, </a:t>
            </a:r>
            <a:r>
              <a:rPr lang="en-US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Netlify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, Semantic </a:t>
            </a:r>
            <a:r>
              <a:rPr lang="en-US" sz="9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release</a:t>
            </a:r>
            <a:endParaRPr lang="ru-RU" sz="96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lvl="0" indent="-536575"/>
            <a:endParaRPr lang="ru-RU" sz="9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indent="-536575">
              <a:buFont typeface="Arial" pitchFamily="34" charset="0"/>
              <a:buChar char="•"/>
            </a:pP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Full-stack </a:t>
            </a:r>
            <a:r>
              <a:rPr lang="ru-RU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взаимодействие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(</a:t>
            </a:r>
            <a:r>
              <a:rPr lang="en-US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NestJS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+ Angular + </a:t>
            </a:r>
            <a:r>
              <a:rPr lang="en-US" sz="96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TMDb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API)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519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260648"/>
            <a:ext cx="7315200" cy="2088232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lvl="0"/>
            <a:r>
              <a:rPr lang="ru-RU" b="1" dirty="0"/>
              <a:t>Q&amp;A</a:t>
            </a:r>
            <a: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/>
            </a:r>
            <a:br>
              <a:rPr lang="ru-RU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</a:br>
            <a:endParaRPr lang="ru-RU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512" y="2348880"/>
            <a:ext cx="8784976" cy="3744416"/>
          </a:xfrm>
        </p:spPr>
        <p:txBody>
          <a:bodyPr>
            <a:normAutofit fontScale="25000" lnSpcReduction="20000"/>
          </a:bodyPr>
          <a:lstStyle/>
          <a:p>
            <a:pPr marL="536575" lvl="0" indent="-536575">
              <a:buFont typeface="Arial" pitchFamily="34" charset="0"/>
              <a:buChar char="•"/>
            </a:pPr>
            <a:r>
              <a:rPr lang="en-US" sz="112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GitHub</a:t>
            </a:r>
            <a:r>
              <a:rPr lang="en-US" sz="112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repository: </a:t>
            </a:r>
            <a:r>
              <a:rPr lang="en-US" sz="112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  <a:hlinkClick r:id="rId2"/>
              </a:rPr>
              <a:t>https://</a:t>
            </a:r>
            <a:r>
              <a:rPr lang="en-US" sz="112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  <a:hlinkClick r:id="rId2"/>
              </a:rPr>
              <a:t>github.com/exact84/RS-Clone</a:t>
            </a:r>
            <a:endParaRPr lang="ru-RU" sz="112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lvl="0" indent="-536575"/>
            <a:endParaRPr lang="ru-RU" sz="11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lvl="0" indent="-536575">
              <a:buFont typeface="Arial" pitchFamily="34" charset="0"/>
              <a:buChar char="•"/>
            </a:pPr>
            <a:r>
              <a:rPr lang="en-US" sz="112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GitHub</a:t>
            </a:r>
            <a:r>
              <a:rPr lang="en-US" sz="112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Project: </a:t>
            </a:r>
            <a:r>
              <a:rPr lang="en-US" sz="112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  <a:hlinkClick r:id="rId3"/>
              </a:rPr>
              <a:t>https://</a:t>
            </a:r>
            <a:r>
              <a:rPr lang="en-US" sz="112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  <a:hlinkClick r:id="rId3"/>
              </a:rPr>
              <a:t>github.com/users/exact84/projects/1</a:t>
            </a:r>
            <a:endParaRPr lang="ru-RU" sz="112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lvl="0" indent="-536575"/>
            <a:endParaRPr lang="ru-RU" sz="11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marL="536575" lvl="0" indent="-536575">
              <a:buFont typeface="Arial" pitchFamily="34" charset="0"/>
              <a:buChar char="•"/>
            </a:pPr>
            <a:r>
              <a:rPr lang="en-US" sz="11200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Netlify</a:t>
            </a:r>
            <a:r>
              <a:rPr lang="en-US" sz="112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</a:rPr>
              <a:t> deploy: </a:t>
            </a:r>
            <a:r>
              <a:rPr lang="en-US" sz="112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  <a:hlinkClick r:id="rId4"/>
              </a:rPr>
              <a:t>https://rs-clone.netlify.app</a:t>
            </a:r>
            <a:r>
              <a:rPr lang="en-US" sz="112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Comic Sans MS" pitchFamily="66" charset="0"/>
                <a:hlinkClick r:id="rId4"/>
              </a:rPr>
              <a:t>/</a:t>
            </a:r>
            <a:endParaRPr lang="ru-RU" sz="112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pPr lvl="0"/>
            <a:endParaRPr lang="ru-RU" sz="11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Comic Sans MS" pitchFamily="66" charset="0"/>
            </a:endParaRPr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519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ерспектива">
  <a:themeElements>
    <a:clrScheme name="Перспектива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Классическая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Перспектив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176</TotalTime>
  <Words>400</Words>
  <Application>Microsoft Office PowerPoint</Application>
  <PresentationFormat>Экран (4:3)</PresentationFormat>
  <Paragraphs>118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Перспектива</vt:lpstr>
      <vt:lpstr>Angular Final Project 2025 RS-Clone Movie DB </vt:lpstr>
      <vt:lpstr>Команда </vt:lpstr>
      <vt:lpstr>Цель и описание проекта  </vt:lpstr>
      <vt:lpstr>Архитектура проекта </vt:lpstr>
      <vt:lpstr>Технологии и стек </vt:lpstr>
      <vt:lpstr>Управление состоянием </vt:lpstr>
      <vt:lpstr>CI/CD </vt:lpstr>
      <vt:lpstr>Демонстрация  </vt:lpstr>
      <vt:lpstr>Тестирование и качество кода  </vt:lpstr>
      <vt:lpstr>Netlify деплой </vt:lpstr>
      <vt:lpstr>Error Monitoring </vt:lpstr>
      <vt:lpstr>Оптимизация и производительность </vt:lpstr>
      <vt:lpstr>Проблемы и решения </vt:lpstr>
      <vt:lpstr>Планы по развитию </vt:lpstr>
      <vt:lpstr>Выводы и навыки </vt:lpstr>
      <vt:lpstr>Q&amp;A 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Angular Final Project 2025 RS-Clone Movie DB</dc:title>
  <dc:creator>Учфсе</dc:creator>
  <cp:lastModifiedBy>Пользователь</cp:lastModifiedBy>
  <cp:revision>13</cp:revision>
  <dcterms:created xsi:type="dcterms:W3CDTF">2025-10-11T09:09:53Z</dcterms:created>
  <dcterms:modified xsi:type="dcterms:W3CDTF">2025-10-11T20:05:38Z</dcterms:modified>
</cp:coreProperties>
</file>